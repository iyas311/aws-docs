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 Bold"/>
      <p:regular r:id="rId17"/>
    </p:embeddedFont>
    <p:embeddedFont>
      <p:font typeface="Fira Sans"/>
      <p:regular r:id="rId18"/>
    </p:embeddedFont>
    <p:embeddedFont>
      <p:font typeface="Fira Sans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4580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04549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Rentlora Cloud Architecture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314406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modern property and booking platform built for enterprise-grade scalability, security, and performance on AWS.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418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Platform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4069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Rentlora is built for high availability, elastic scale, and secure service separation across AWS.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26977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2687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Microservices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575247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Independent FastAPI services that scale and deploy separately.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2126977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8" name="Text 6"/>
          <p:cNvSpPr/>
          <p:nvPr/>
        </p:nvSpPr>
        <p:spPr>
          <a:xfrm>
            <a:off x="4784601" y="22687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Multi-AZ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4601" y="2575247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Distributed across Availability Zones for resilience.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312393"/>
            <a:ext cx="8151763" cy="816843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1" name="Text 9"/>
          <p:cNvSpPr/>
          <p:nvPr/>
        </p:nvSpPr>
        <p:spPr>
          <a:xfrm>
            <a:off x="637877" y="3454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VPC Isolation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7877" y="3760663"/>
            <a:ext cx="7868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Tiered network controls with strict access boundaries.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975622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Network Security &amp; VPC Isolation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701924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custom multi-tier VPC in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us-east-1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enforces strict network segmentation across four subnet tiers.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74489" y="2127870"/>
            <a:ext cx="1834828" cy="845716"/>
          </a:xfrm>
          <a:prstGeom prst="roundRect">
            <a:avLst>
              <a:gd name="adj" fmla="val 8109"/>
            </a:avLst>
          </a:prstGeom>
          <a:solidFill>
            <a:srgbClr val="241631"/>
          </a:solidFill>
          <a:ln w="14288">
            <a:solidFill>
              <a:srgbClr val="5C4E6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202" y="2127870"/>
            <a:ext cx="57150" cy="8457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4600" y="225511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Public Subnet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4600" y="2521595"/>
            <a:ext cx="153746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External ALB, NAT Gateway, Bastion Host.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99283" y="2127870"/>
            <a:ext cx="1834828" cy="845716"/>
          </a:xfrm>
          <a:prstGeom prst="roundRect">
            <a:avLst>
              <a:gd name="adj" fmla="val 8109"/>
            </a:avLst>
          </a:prstGeom>
          <a:solidFill>
            <a:srgbClr val="241631"/>
          </a:solidFill>
          <a:ln w="14288">
            <a:solidFill>
              <a:srgbClr val="5C4E6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96" y="2127870"/>
            <a:ext cx="57150" cy="8457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69394" y="2255118"/>
            <a:ext cx="148225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Private Frontend Tier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69394" y="2521595"/>
            <a:ext cx="153746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React ASG with no direct internet exposure.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74489" y="3063553"/>
            <a:ext cx="1834828" cy="845716"/>
          </a:xfrm>
          <a:prstGeom prst="roundRect">
            <a:avLst>
              <a:gd name="adj" fmla="val 8109"/>
            </a:avLst>
          </a:prstGeom>
          <a:solidFill>
            <a:srgbClr val="241631"/>
          </a:solidFill>
          <a:ln w="14288">
            <a:solidFill>
              <a:srgbClr val="5C4E6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02" y="3063553"/>
            <a:ext cx="57150" cy="8457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4600" y="319080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Private Backend Tier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44600" y="3457277"/>
            <a:ext cx="153746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FastAPI services behind Internal ALB.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2599283" y="3063553"/>
            <a:ext cx="1834828" cy="845716"/>
          </a:xfrm>
          <a:prstGeom prst="roundRect">
            <a:avLst>
              <a:gd name="adj" fmla="val 8109"/>
            </a:avLst>
          </a:prstGeom>
          <a:solidFill>
            <a:srgbClr val="241631"/>
          </a:solidFill>
          <a:ln w="14288">
            <a:solidFill>
              <a:srgbClr val="5C4E6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96" y="3063553"/>
            <a:ext cx="57150" cy="8457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69394" y="3190801"/>
            <a:ext cx="148225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Private Database Tier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769394" y="3457277"/>
            <a:ext cx="153746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RDS PostgreSQL with no public access.</a:t>
            </a:r>
            <a:endParaRPr lang="en-US" sz="8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22808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System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884113"/>
            <a:ext cx="85578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End-to-end request flow from internet users through DNS, ALBs, microservices, and the database layer.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1165101"/>
            <a:ext cx="6553200" cy="3657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43" y="1165101"/>
            <a:ext cx="6553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308893"/>
            <a:ext cx="6110883" cy="40738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3759" y="4502348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7077"/>
            <a:ext cx="73672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Advanced Traffic Routing — External ALB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8358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External Application Load Balancer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is the platform’s single public entry point.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69865"/>
            <a:ext cx="4004965" cy="1516559"/>
          </a:xfrm>
          <a:prstGeom prst="roundRect">
            <a:avLst>
              <a:gd name="adj" fmla="val 1402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5169" y="2388915"/>
            <a:ext cx="3966865" cy="425276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2263" y="2495178"/>
            <a:ext cx="212601" cy="212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6927" y="29559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Host-Based Routing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3262461"/>
            <a:ext cx="3683347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docs.rentlora.in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routes to the Docs EC2/Nginx server.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2369865"/>
            <a:ext cx="4005039" cy="1516559"/>
          </a:xfrm>
          <a:prstGeom prst="roundRect">
            <a:avLst>
              <a:gd name="adj" fmla="val 1402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1892" y="2388915"/>
            <a:ext cx="3966939" cy="425276"/>
          </a:xfrm>
          <a:prstGeom prst="rect">
            <a:avLst/>
          </a:prstGeom>
          <a:solidFill>
            <a:srgbClr val="4335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9061" y="2495178"/>
            <a:ext cx="212601" cy="2126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3651" y="29559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Path-Based Routing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03651" y="3262461"/>
            <a:ext cx="3683422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/rental/*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→ Nginx marketing cluster.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→ React SPA frontend cluster.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5008"/>
            <a:ext cx="73672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Internal Service Routing — Internal ALB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4151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Internal ALB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acts as a private API gateway, routing frontend requests to backend microservices without exposing them publicly.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514079"/>
            <a:ext cx="3902943" cy="1454869"/>
          </a:xfrm>
          <a:prstGeom prst="roundRect">
            <a:avLst>
              <a:gd name="adj" fmla="val 1462"/>
            </a:avLst>
          </a:prstGeom>
          <a:solidFill>
            <a:srgbClr val="433550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655838"/>
            <a:ext cx="23024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Property Service ASG :8001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3019053"/>
            <a:ext cx="3619426" cy="80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/properties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/reviews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2514079"/>
            <a:ext cx="3902943" cy="1454869"/>
          </a:xfrm>
          <a:prstGeom prst="roundRect">
            <a:avLst>
              <a:gd name="adj" fmla="val 1462"/>
            </a:avLst>
          </a:prstGeom>
          <a:solidFill>
            <a:srgbClr val="433550"/>
          </a:solidFill>
          <a:ln/>
        </p:spPr>
      </p:sp>
      <p:sp>
        <p:nvSpPr>
          <p:cNvPr id="8" name="Text 6"/>
          <p:cNvSpPr/>
          <p:nvPr/>
        </p:nvSpPr>
        <p:spPr>
          <a:xfrm>
            <a:off x="4891460" y="2655838"/>
            <a:ext cx="22138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Booking Service ASG :8002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1460" y="3019053"/>
            <a:ext cx="3619426" cy="80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562"/>
            <a:ext cx="52410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Compute &amp; Persistence Layer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87066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Compute Layer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Python 3.12 FastAPI microservices run on Miniconda-backed EC2 Auto Scaling Groups with Nginx for elasticity.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887066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Frontend Layer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0242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React SPA is served by an Auto Scaling Group behind the External ALB.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887066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Database Layer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02422"/>
            <a:ext cx="2599134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Amazon RDS PostgreSQL stays in private subnets with async access via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asyncpg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274067"/>
            <a:ext cx="5315471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Auto Scaling Alerts &amp; SNS Notifications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2224385"/>
            <a:ext cx="3317304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AWS SNS is integrated with Auto Scaling Groups to deliver </a:t>
            </a:r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notifications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on every scaling event — keeping the DevOps team immediately aware of infrastructure changes.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8281" y="769441"/>
            <a:ext cx="3317304" cy="331730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81" y="769441"/>
            <a:ext cx="3317304" cy="331730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384" y="4247443"/>
            <a:ext cx="149498" cy="14949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56879" y="4244355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EC2 Launch Events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1456879" y="4442073"/>
            <a:ext cx="1910358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Alerts triggered when new instances spin up during scale-out.</a:t>
            </a:r>
            <a:endParaRPr lang="en-US" sz="7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2178" y="4247443"/>
            <a:ext cx="149498" cy="14949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778672" y="4244355"/>
            <a:ext cx="13702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EC2 Termination Events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3778672" y="4442073"/>
            <a:ext cx="1910358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Notifications on instance termination during scale-in.</a:t>
            </a:r>
            <a:endParaRPr lang="en-US" sz="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3971" y="4247443"/>
            <a:ext cx="149498" cy="14949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00465" y="4244355"/>
            <a:ext cx="1910358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Scale-Out / Scale-In Operations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6100465" y="4597747"/>
            <a:ext cx="1910358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Full visibility into capacity changes across all ASGs.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05718"/>
            <a:ext cx="8182719" cy="131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000"/>
              </a:lnSpc>
              <a:spcAft>
                <a:spcPts val="2850"/>
              </a:spcAft>
              <a:buNone/>
            </a:pPr>
            <a:endParaRPr lang="en-US" sz="1050" dirty="0"/>
          </a:p>
          <a:p>
            <a:pPr algn="l" indent="0" marL="0">
              <a:lnSpc>
                <a:spcPct val="131000"/>
              </a:lnSpc>
              <a:spcAft>
                <a:spcPts val="2850"/>
              </a:spcAft>
              <a:buNone/>
            </a:pPr>
            <a:endParaRPr lang="en-US" sz="1050" dirty="0"/>
          </a:p>
          <a:p>
            <a:pPr algn="l" indent="0" marL="0">
              <a:lnSpc>
                <a:spcPct val="131000"/>
              </a:lnSpc>
              <a:spcAft>
                <a:spcPts val="2850"/>
              </a:spcAft>
              <a:buNone/>
            </a:pP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09935" y="2019449"/>
            <a:ext cx="7095455" cy="8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80640" y="3077319"/>
            <a:ext cx="8182719" cy="168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000"/>
              </a:lnSpc>
              <a:spcAft>
                <a:spcPts val="2850"/>
              </a:spcAft>
              <a:buNone/>
            </a:pPr>
            <a:endParaRPr lang="en-US" sz="1050" dirty="0"/>
          </a:p>
          <a:p>
            <a:pPr algn="l" indent="0" marL="0">
              <a:lnSpc>
                <a:spcPct val="131000"/>
              </a:lnSpc>
              <a:spcAft>
                <a:spcPts val="2850"/>
              </a:spcAft>
              <a:buNone/>
            </a:pPr>
            <a:endParaRPr lang="en-US" sz="1050" dirty="0"/>
          </a:p>
          <a:p>
            <a:pPr algn="l" indent="0" marL="0">
              <a:lnSpc>
                <a:spcPct val="131000"/>
              </a:lnSpc>
              <a:spcAft>
                <a:spcPts val="2850"/>
              </a:spcAft>
              <a:buNone/>
            </a:pPr>
            <a:endParaRPr lang="en-US" sz="1050" dirty="0"/>
          </a:p>
          <a:p>
            <a:pPr algn="l" indent="0" marL="0">
              <a:lnSpc>
                <a:spcPct val="131000"/>
              </a:lnSpc>
              <a:spcAft>
                <a:spcPts val="2850"/>
              </a:spcAft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2026-05-26T07:13:18Z</dcterms:created>
  <dcterms:modified xsi:type="dcterms:W3CDTF">2026-05-26T07:13:18Z</dcterms:modified>
</cp:coreProperties>
</file>